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2C8"/>
                </a:solidFill>
                <a:latin typeface="Segoe UI"/>
              </a:rPr>
              <a:t>HACKATHON  ELECTRON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058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egoe UI"/>
              </a:rPr>
              <a:t>Aventura noastră în
AI &amp; Machine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200400"/>
            <a:ext cx="201168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337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AAB2C8"/>
                </a:solidFill>
                <a:latin typeface="Segoe UI"/>
              </a:rPr>
              <a:t>Prezentare competitori  ·  ~4 minute</a:t>
            </a:r>
          </a:p>
        </p:txBody>
      </p:sp>
      <p:sp>
        <p:nvSpPr>
          <p:cNvPr id="8" name="Oval 7"/>
          <p:cNvSpPr/>
          <p:nvPr/>
        </p:nvSpPr>
        <p:spPr>
          <a:xfrm>
            <a:off x="9692640" y="4206240"/>
            <a:ext cx="1645920" cy="1645920"/>
          </a:xfrm>
          <a:prstGeom prst="ellipse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52759" y="3337560"/>
            <a:ext cx="1005840" cy="1005840"/>
          </a:xfrm>
          <a:prstGeom prst="ellipse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006840" y="5349240"/>
            <a:ext cx="822960" cy="8229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74320"/>
            <a:ext cx="54864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Segoe UI"/>
              </a:rPr>
              <a:t>De ce Electron?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188720"/>
            <a:ext cx="10515600" cy="36576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600"/>
              </a:spcBef>
            </a:pPr>
            <a:r>
              <a:rPr sz="2200" b="1" i="0">
                <a:solidFill>
                  <a:srgbClr val="FF6B35"/>
                </a:solidFill>
                <a:latin typeface="Segoe UI"/>
              </a:rPr>
              <a:t>🎯  Curiozitate mai mare decât frica de eșec</a:t>
            </a:r>
          </a:p>
          <a:p>
            <a:pPr algn="l">
              <a:spcBef>
                <a:spcPts val="200"/>
              </a:spcBef>
            </a:pPr>
            <a:r>
              <a:rPr sz="1800" b="0" i="0">
                <a:solidFill>
                  <a:srgbClr val="AAB2C8"/>
                </a:solidFill>
                <a:latin typeface="Segoe UI"/>
              </a:rPr>
              <a:t>Am vazut 'AI &amp; ML' in titlu si pur si simplu n-am putut sa dam pass.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2200" b="1" i="0">
                <a:solidFill>
                  <a:srgbClr val="4EC9B0"/>
                </a:solidFill>
                <a:latin typeface="Segoe UI"/>
              </a:rPr>
              <a:t>⚡  Provocarea concretă</a:t>
            </a:r>
          </a:p>
          <a:p>
            <a:pPr algn="l">
              <a:spcBef>
                <a:spcPts val="200"/>
              </a:spcBef>
            </a:pPr>
            <a:r>
              <a:rPr sz="1800" b="0" i="0">
                <a:solidFill>
                  <a:srgbClr val="AAB2C8"/>
                </a:solidFill>
                <a:latin typeface="Segoe UI"/>
              </a:rPr>
              <a:t>Probleme cu rețele neurale, clasificatoare de imagini, atacuri adversariale —
exact genul de lucruri pe care le citești în papers și vrei să le atingi cu mâna.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2200" b="1" i="0">
                <a:solidFill>
                  <a:srgbClr val="FFD66B"/>
                </a:solidFill>
                <a:latin typeface="Segoe UI"/>
              </a:rPr>
              <a:t>🕐  Managementul timpului ca skill real</a:t>
            </a:r>
          </a:p>
          <a:p>
            <a:pPr algn="l">
              <a:spcBef>
                <a:spcPts val="200"/>
              </a:spcBef>
            </a:pPr>
            <a:r>
              <a:rPr sz="1800" b="0" i="0">
                <a:solidFill>
                  <a:srgbClr val="AAB2C8"/>
                </a:solidFill>
                <a:latin typeface="Segoe UI"/>
              </a:rPr>
              <a:t>Știam că va fi intens. Voiam să vedem cât de bine ne descurcăm sub presiune.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Segoe UI"/>
              </a:rPr>
              <a:t>Cu ce ne-am confruntat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0972800" cy="36576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3566160" cy="502920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3566160" cy="914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6B35"/>
                </a:solidFill>
                <a:latin typeface="Segoe UI"/>
              </a:rPr>
              <a:t>Adversarial Patches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3291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B2C8"/>
                </a:solidFill>
                <a:latin typeface="Segoe UI"/>
              </a:rPr>
              <a:t>Construiește un patch 32×32 care,
lipit pe o imagine, păcălește un
clasificator să predicte clasa 42
cu un confidence exact.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371600"/>
            <a:ext cx="3566160" cy="502920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371600"/>
            <a:ext cx="3566160" cy="9144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55448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EC9B0"/>
                </a:solidFill>
                <a:latin typeface="Segoe UI"/>
              </a:rPr>
              <a:t>Black-box Constraints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331720"/>
            <a:ext cx="3291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B2C8"/>
                </a:solidFill>
                <a:latin typeface="Segoe UI"/>
              </a:rPr>
              <a:t>Model weights disponibile, dar
condiția de confidence era secretă.
Trebuia ghicit intervalul corect
prin trial &amp; error sistematic.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3880" y="1371600"/>
            <a:ext cx="3566160" cy="502920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80" y="1371600"/>
            <a:ext cx="3566160" cy="91440"/>
          </a:xfrm>
          <a:prstGeom prst="rect">
            <a:avLst/>
          </a:prstGeom>
          <a:solidFill>
            <a:srgbClr val="FFD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55448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D66B"/>
                </a:solidFill>
                <a:latin typeface="Segoe UI"/>
              </a:rPr>
              <a:t>Timp limitat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331720"/>
            <a:ext cx="3291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B2C8"/>
                </a:solidFill>
                <a:latin typeface="Segoe UI"/>
              </a:rPr>
              <a:t>Fiecare submit îți dă un răspuns
binar: da/nu. Zero detalii extra.
Iterezi repede sau pierzi timp.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Cum ne-am gândit la probleme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0972800" cy="36576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640080" cy="8229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F172A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371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6B35"/>
                </a:solidFill>
                <a:latin typeface="Segoe UI"/>
              </a:rPr>
              <a:t>Citim cerința de 3 ori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783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B2C8"/>
                </a:solidFill>
                <a:latin typeface="Segoe UI"/>
              </a:rPr>
              <a:t>Prima dată înțelegem ce vrea. A doua oară ce nu spune. A treia — ce capcane are.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606040"/>
            <a:ext cx="640080" cy="82296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517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F172A"/>
                </a:solidFill>
                <a:latin typeface="Segoe U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6060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4EC9B0"/>
                </a:solidFill>
                <a:latin typeface="Segoe UI"/>
              </a:rPr>
              <a:t>Împărțim problema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01752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B2C8"/>
                </a:solidFill>
                <a:latin typeface="Segoe UI"/>
              </a:rPr>
              <a:t>Input → model → output. Unde putem interveni? Ce este fix, ce este variabil?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840480"/>
            <a:ext cx="640080" cy="822960"/>
          </a:xfrm>
          <a:prstGeom prst="rect">
            <a:avLst/>
          </a:prstGeom>
          <a:solidFill>
            <a:srgbClr val="FFD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88620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F172A"/>
                </a:solidFill>
                <a:latin typeface="Segoe U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8404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D66B"/>
                </a:solidFill>
                <a:latin typeface="Segoe UI"/>
              </a:rPr>
              <a:t>Prototip rapid, submit rapid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2519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B2C8"/>
                </a:solidFill>
                <a:latin typeface="Segoe UI"/>
              </a:rPr>
              <a:t>Un patch random ca baseline. Dacă trece: noroc. Dacă nu: avem un punct de plecare.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074920"/>
            <a:ext cx="64008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12064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F172A"/>
                </a:solidFill>
                <a:latin typeface="Segoe U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074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Iterăm pe 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48640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B2C8"/>
                </a:solidFill>
                <a:latin typeface="Segoe UI"/>
              </a:rPr>
              <a:t>Ajustăm parametri, monitorizăm răspunsul verifierului, îngustăm intervalul de căutare.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Ce a funcționat  ·  Ce nu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0972800" cy="36576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303520" cy="5120640"/>
          </a:xfrm>
          <a:prstGeom prst="rect">
            <a:avLst/>
          </a:prstGeom>
          <a:solidFill>
            <a:srgbClr val="12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5303520" cy="9144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EC9B0"/>
                </a:solidFill>
                <a:latin typeface="Segoe UI"/>
              </a:rPr>
              <a:t>✓  A funcționat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1700" b="0" i="0">
                <a:solidFill>
                  <a:srgbClr val="FFFFFF"/>
                </a:solidFill>
                <a:latin typeface="Segoe UI"/>
              </a:rPr>
              <a:t>→  Gradient-based optimization pe patch</a:t>
            </a:r>
          </a:p>
          <a:p>
            <a:pPr algn="l">
              <a:spcBef>
                <a:spcPts val="800"/>
              </a:spcBef>
            </a:pPr>
            <a:r>
              <a:rPr sz="1700" b="0" i="0">
                <a:solidFill>
                  <a:srgbClr val="FFFFFF"/>
                </a:solidFill>
                <a:latin typeface="Segoe UI"/>
              </a:rPr>
              <a:t>→  Binary search pe confidence threshold</a:t>
            </a:r>
          </a:p>
          <a:p>
            <a:pPr algn="l">
              <a:spcBef>
                <a:spcPts val="800"/>
              </a:spcBef>
            </a:pPr>
            <a:r>
              <a:rPr sz="1700" b="0" i="0">
                <a:solidFill>
                  <a:srgbClr val="FFFFFF"/>
                </a:solidFill>
                <a:latin typeface="Segoe UI"/>
              </a:rPr>
              <a:t>→  Separarea sarcinilor în echipă (model vs. infra)</a:t>
            </a:r>
          </a:p>
          <a:p>
            <a:pPr algn="l">
              <a:spcBef>
                <a:spcPts val="800"/>
              </a:spcBef>
            </a:pPr>
            <a:r>
              <a:rPr sz="1700" b="0" i="0">
                <a:solidFill>
                  <a:srgbClr val="FFFFFF"/>
                </a:solidFill>
                <a:latin typeface="Segoe UI"/>
              </a:rPr>
              <a:t>→  Submit-uri mici și frecvente ca feedback loop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371600"/>
            <a:ext cx="5303520" cy="5120640"/>
          </a:xfrm>
          <a:prstGeom prst="rect">
            <a:avLst/>
          </a:prstGeom>
          <a:solidFill>
            <a:srgbClr val="2A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371600"/>
            <a:ext cx="5303520" cy="914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463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6B35"/>
                </a:solidFill>
                <a:latin typeface="Segoe UI"/>
              </a:rPr>
              <a:t>✗  N-a funcționat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1700" b="0" i="0">
                <a:solidFill>
                  <a:srgbClr val="AAB2C8"/>
                </a:solidFill>
                <a:latin typeface="Segoe UI"/>
              </a:rPr>
              <a:t>→  Patch-uri random fără direcție — pierdere de timp</a:t>
            </a:r>
          </a:p>
          <a:p>
            <a:pPr algn="l">
              <a:spcBef>
                <a:spcPts val="800"/>
              </a:spcBef>
            </a:pPr>
            <a:r>
              <a:rPr sz="1700" b="0" i="0">
                <a:solidFill>
                  <a:srgbClr val="AAB2C8"/>
                </a:solidFill>
                <a:latin typeface="Segoe UI"/>
              </a:rPr>
              <a:t>→  Over-engineering de la început</a:t>
            </a:r>
          </a:p>
          <a:p>
            <a:pPr algn="l">
              <a:spcBef>
                <a:spcPts val="800"/>
              </a:spcBef>
            </a:pPr>
            <a:r>
              <a:rPr sz="1700" b="0" i="0">
                <a:solidFill>
                  <a:srgbClr val="AAB2C8"/>
                </a:solidFill>
                <a:latin typeface="Segoe UI"/>
              </a:rPr>
              <a:t>→  Debugging fără logging → nu știam ce se întâmplă</a:t>
            </a:r>
          </a:p>
          <a:p>
            <a:pPr algn="l">
              <a:spcBef>
                <a:spcPts val="800"/>
              </a:spcBef>
            </a:pPr>
            <a:r>
              <a:rPr sz="1700" b="0" i="0">
                <a:solidFill>
                  <a:srgbClr val="AAB2C8"/>
                </a:solidFill>
                <a:latin typeface="Segoe UI"/>
              </a:rPr>
              <a:t>→  Subestimat cât durează setup-ul de mediu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Instrumente &amp; Tehnologii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0972800" cy="36576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3566160" cy="219456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91440" cy="2194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6B35"/>
                </a:solidFill>
                <a:latin typeface="Segoe UI"/>
              </a:rPr>
              <a:t>PyTorch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B2C8"/>
                </a:solidFill>
                <a:latin typeface="Segoe UI"/>
              </a:rPr>
              <a:t>Backbone pentru orice — forward pass,
gradienți, optimizare patch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371600"/>
            <a:ext cx="3566160" cy="219456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371600"/>
            <a:ext cx="91440" cy="219456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554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EC9B0"/>
                </a:solidFill>
                <a:latin typeface="Segoe UI"/>
              </a:rPr>
              <a:t>Python + NumPy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1031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B2C8"/>
                </a:solidFill>
                <a:latin typeface="Segoe UI"/>
              </a:rPr>
              <a:t>Procesare imagini, manipulare tensori,
scripturi rapide de test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3880" y="1371600"/>
            <a:ext cx="3566160" cy="219456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80" y="1371600"/>
            <a:ext cx="91440" cy="2194560"/>
          </a:xfrm>
          <a:prstGeom prst="rect">
            <a:avLst/>
          </a:prstGeom>
          <a:solidFill>
            <a:srgbClr val="FFD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554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D66B"/>
                </a:solidFill>
                <a:latin typeface="Segoe UI"/>
              </a:rPr>
              <a:t>PIL / OpenCV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1031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B2C8"/>
                </a:solidFill>
                <a:latin typeface="Segoe UI"/>
              </a:rPr>
              <a:t>Generare și inspecție vizuală a patch-urilor
înainte de submit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3566160" cy="219456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840480"/>
            <a:ext cx="9144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23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"/>
              </a:rPr>
              <a:t>Git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57200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B2C8"/>
                </a:solidFill>
                <a:latin typeface="Segoe UI"/>
              </a:rPr>
              <a:t>Versionat fiecare iterație —
nu pierzi ce a funcționat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3840480"/>
            <a:ext cx="3566160" cy="219456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3400" y="3840480"/>
            <a:ext cx="91440" cy="2194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023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6B35"/>
                </a:solidFill>
                <a:latin typeface="Segoe UI"/>
              </a:rPr>
              <a:t>VS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57200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B2C8"/>
                </a:solidFill>
                <a:latin typeface="Segoe UI"/>
              </a:rPr>
              <a:t>Live Share pentru colaborare
în timp real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83880" y="3840480"/>
            <a:ext cx="3566160" cy="219456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3880" y="3840480"/>
            <a:ext cx="91440" cy="219456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4023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EC9B0"/>
                </a:solidFill>
                <a:latin typeface="Segoe UI"/>
              </a:rPr>
              <a:t>Claude / ChatGPT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57200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B2C8"/>
                </a:solidFill>
                <a:latin typeface="Segoe UI"/>
              </a:rPr>
              <a:t>Explicat concepte noi rapid,
debug cu un al doilea ochi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AI ne-a ajutat... sau nu?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0972800" cy="36576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FF6B35"/>
                </a:solidFill>
                <a:latin typeface="Segoe UI"/>
              </a:rPr>
              <a:t>Răspunsul sincer: da și nu, depinde cum l-ai folosit.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202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600"/>
              </a:spcBef>
            </a:pPr>
            <a:r>
              <a:rPr sz="2100" b="1" i="0">
                <a:solidFill>
                  <a:srgbClr val="4EC9B0"/>
                </a:solidFill>
                <a:latin typeface="Segoe UI"/>
              </a:rPr>
              <a:t>✅  Util când:</a:t>
            </a:r>
          </a:p>
          <a:p>
            <a:pPr algn="l">
              <a:spcBef>
                <a:spcPts val="400"/>
              </a:spcBef>
            </a:pPr>
            <a:r>
              <a:rPr sz="1700" b="0" i="0">
                <a:solidFill>
                  <a:srgbClr val="FFFFFF"/>
                </a:solidFill>
                <a:latin typeface="Segoe UI"/>
              </a:rPr>
              <a:t>→  Aveam nevoie să înțelegem rapid un concept nou (adversarial perturbations, FGSM, PGD)</a:t>
            </a:r>
          </a:p>
          <a:p>
            <a:pPr algn="l">
              <a:spcBef>
                <a:spcPts val="400"/>
              </a:spcBef>
            </a:pPr>
            <a:r>
              <a:rPr sz="1700" b="0" i="0">
                <a:solidFill>
                  <a:srgbClr val="FFFFFF"/>
                </a:solidFill>
                <a:latin typeface="Segoe UI"/>
              </a:rPr>
              <a:t>→  Voiam să vedem rapid un schelet de cod ca punct de plecare</a:t>
            </a:r>
          </a:p>
          <a:p>
            <a:pPr algn="l">
              <a:spcBef>
                <a:spcPts val="400"/>
              </a:spcBef>
            </a:pPr>
            <a:r>
              <a:rPr sz="1700" b="0" i="0">
                <a:solidFill>
                  <a:srgbClr val="FFFFFF"/>
                </a:solidFill>
                <a:latin typeface="Segoe UI"/>
              </a:rPr>
              <a:t>→  Debugging: explicat un error message cu context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2100" b="1" i="0">
                <a:solidFill>
                  <a:srgbClr val="FF6B35"/>
                </a:solidFill>
                <a:latin typeface="Segoe UI"/>
              </a:rPr>
              <a:t>❌  Limitări reale:</a:t>
            </a:r>
          </a:p>
          <a:p>
            <a:pPr algn="l">
              <a:spcBef>
                <a:spcPts val="400"/>
              </a:spcBef>
            </a:pPr>
            <a:r>
              <a:rPr sz="1700" b="0" i="0">
                <a:solidFill>
                  <a:srgbClr val="AAB2C8"/>
                </a:solidFill>
                <a:latin typeface="Segoe UI"/>
              </a:rPr>
              <a:t>→  Nu cunoaște modelul tău specific — nu poate rezolva problema pentru tine</a:t>
            </a:r>
          </a:p>
          <a:p>
            <a:pPr algn="l">
              <a:spcBef>
                <a:spcPts val="400"/>
              </a:spcBef>
            </a:pPr>
            <a:r>
              <a:rPr sz="1700" b="0" i="0">
                <a:solidFill>
                  <a:srgbClr val="AAB2C8"/>
                </a:solidFill>
                <a:latin typeface="Segoe UI"/>
              </a:rPr>
              <a:t>→  Codul generat trebuia adaptat / verificat întotdeauna</a:t>
            </a:r>
          </a:p>
          <a:p>
            <a:pPr algn="l">
              <a:spcBef>
                <a:spcPts val="400"/>
              </a:spcBef>
            </a:pPr>
            <a:r>
              <a:rPr sz="1700" b="0" i="0">
                <a:solidFill>
                  <a:srgbClr val="AAB2C8"/>
                </a:solidFill>
                <a:latin typeface="Segoe UI"/>
              </a:rPr>
              <a:t>→  Uneori mai rapid să citești documentația direct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Ce am descoperit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0972800" cy="36576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09728" cy="1280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6B35"/>
                </a:solidFill>
                <a:latin typeface="Segoe UI"/>
              </a:rPr>
              <a:t>Adversarial 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B2C8"/>
                </a:solidFill>
                <a:latin typeface="Segoe UI"/>
              </a:rPr>
              <a:t>Un patch mic de 32×32 poate complet păcăli un clasificator de 50 de clase.
Modelele nu 'văd' cum vedem noi — asta e fascinant și îngrijorător în același timp.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017520"/>
            <a:ext cx="109728" cy="128016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063239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4EC9B0"/>
                </a:solidFill>
                <a:latin typeface="Segoe UI"/>
              </a:rPr>
              <a:t>Security ↔ 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661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B2C8"/>
                </a:solidFill>
                <a:latin typeface="Segoe UI"/>
              </a:rPr>
              <a:t>Atacurile adversariale sunt un domeniu de cercetare activ, direct legat de
siguranța sistemelor AI din producție. Nu e doar teorie.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663440"/>
            <a:ext cx="109728" cy="1280160"/>
          </a:xfrm>
          <a:prstGeom prst="rect">
            <a:avLst/>
          </a:prstGeom>
          <a:solidFill>
            <a:srgbClr val="FFD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709159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D66B"/>
                </a:solidFill>
                <a:latin typeface="Segoe UI"/>
              </a:rPr>
              <a:t>Domeniul preferat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212079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B2C8"/>
                </a:solidFill>
                <a:latin typeface="Segoe UI"/>
              </a:rPr>
              <a:t>Computer Vision + Security a fost preferata — faptul că poți 'ataca' rețele
neurale cu imagini pare magie neagră la prima vedere.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Segoe UI"/>
              </a:rPr>
              <a:t>Ce ne-a învățat hackathonul cu adevărat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0972800" cy="36576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AAB2C8"/>
                </a:solidFill>
                <a:latin typeface="Segoe UI"/>
              </a:rPr>
              <a:t>(spoiler: nu e despre ML)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74519"/>
            <a:ext cx="5394960" cy="192024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79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"/>
              </a:rPr>
              <a:t>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0574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6B35"/>
                </a:solidFill>
                <a:latin typeface="Segoe UI"/>
              </a:rPr>
              <a:t>Timpul e finit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606039"/>
            <a:ext cx="4297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B2C8"/>
                </a:solidFill>
                <a:latin typeface="Segoe UI"/>
              </a:rPr>
              <a:t>Prima oră: explorezi. Ora 2+: construiești. Știi când să oprești rabbit holes.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874519"/>
            <a:ext cx="5394960" cy="192024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79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"/>
              </a:rPr>
              <a:t>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0574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4EC9B0"/>
                </a:solidFill>
                <a:latin typeface="Segoe UI"/>
              </a:rPr>
              <a:t>Focus &gt; Perfecțiune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2606039"/>
            <a:ext cx="4297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B2C8"/>
                </a:solidFill>
                <a:latin typeface="Segoe UI"/>
              </a:rPr>
              <a:t>Un submit mediocru acum bate un submit perfect mâine. Feedback rapid contează.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160520"/>
            <a:ext cx="5394960" cy="192024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"/>
              </a:rPr>
              <a:t>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3434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D66B"/>
                </a:solidFill>
                <a:latin typeface="Segoe UI"/>
              </a:rPr>
              <a:t>Comunicarea salvează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892040"/>
            <a:ext cx="4297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B2C8"/>
                </a:solidFill>
                <a:latin typeface="Segoe UI"/>
              </a:rPr>
              <a:t>Dacă doi oameni lucrează pe același lucru fără să știe → dublu timp pierdut.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4160520"/>
            <a:ext cx="5394960" cy="192024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29768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"/>
              </a:rPr>
              <a:t>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43434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Iterații mici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4892040"/>
            <a:ext cx="4297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B2C8"/>
                </a:solidFill>
                <a:latin typeface="Segoe UI"/>
              </a:rPr>
              <a:t>Schimbă un singur lucru odată. Altfel nu știi ce a rezolvat problema.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Segoe UI"/>
              </a:rPr>
              <a:t>A fost greu. A fost bun.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651760"/>
            <a:ext cx="393192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8346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AB2C8"/>
                </a:solidFill>
                <a:latin typeface="Segoe UI"/>
              </a:rPr>
              <a:t>Hackathonul Electron nu ne-a dat soluții — ne-a dat probleme bune.
Și asta e exact ce trebuia.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6B35"/>
                </a:solidFill>
                <a:latin typeface="Segoe UI"/>
              </a:rPr>
              <a:t>Mulțumim  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AB2C8"/>
                </a:solidFill>
                <a:latin typeface="Segoe UI"/>
              </a:rPr>
              <a:t>Electron Hackathon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